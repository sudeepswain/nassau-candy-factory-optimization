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Nassau Candy Factory Reallocation &amp; Shipping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&amp; Decision Intelligence System</a:t>
            </a:r>
          </a:p>
          <a:p>
            <a:r>
              <a:t>Factory Reallocation Recommendation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Leadership Question:</a:t>
            </a:r>
          </a:p>
          <a:p>
            <a:r>
              <a:t>What should we change to improve performance?</a:t>
            </a:r>
          </a:p>
          <a:p/>
          <a:p>
            <a:r>
              <a:t>Project Goal:</a:t>
            </a:r>
          </a:p>
          <a:p>
            <a:r>
              <a:t>Use historical shipping data and machine learning to identify potential factory reallocation opportunities.</a:t>
            </a:r>
          </a:p>
          <a:p/>
          <a:p>
            <a:r>
              <a:t>The system evaluates:</a:t>
            </a:r>
          </a:p>
          <a:p>
            <a:r>
              <a:t>• Predicted shipping outcomes</a:t>
            </a:r>
          </a:p>
          <a:p>
            <a:r>
              <a:t>• Alternative factory assignments</a:t>
            </a:r>
          </a:p>
          <a:p>
            <a:r>
              <a:t>• Lead-time improvement</a:t>
            </a:r>
          </a:p>
          <a:p>
            <a:r>
              <a:t>• Profitability</a:t>
            </a:r>
          </a:p>
          <a:p>
            <a:r>
              <a:t>• Factory distance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</a:t>
            </a:r>
          </a:p>
          <a:p>
            <a:r>
              <a:t>• 10,194 records</a:t>
            </a:r>
          </a:p>
          <a:p>
            <a:r>
              <a:t>• 18 original variables</a:t>
            </a:r>
          </a:p>
          <a:p>
            <a:r>
              <a:t>• 15 products</a:t>
            </a:r>
          </a:p>
          <a:p>
            <a:r>
              <a:t>• 5 factories</a:t>
            </a:r>
          </a:p>
          <a:p/>
          <a:p>
            <a:r>
              <a:t>Key business information:</a:t>
            </a:r>
          </a:p>
          <a:p>
            <a:r>
              <a:t>• Orders</a:t>
            </a:r>
          </a:p>
          <a:p>
            <a:r>
              <a:t>• Products</a:t>
            </a:r>
          </a:p>
          <a:p>
            <a:r>
              <a:t>• Order and ship dates</a:t>
            </a:r>
          </a:p>
          <a:p>
            <a:r>
              <a:t>• Shipping modes</a:t>
            </a:r>
          </a:p>
          <a:p>
            <a:r>
              <a:t>• Customer locations</a:t>
            </a:r>
          </a:p>
          <a:p>
            <a:r>
              <a:t>• Sales</a:t>
            </a:r>
          </a:p>
          <a:p>
            <a:r>
              <a:t>• Units</a:t>
            </a:r>
          </a:p>
          <a:p>
            <a:r>
              <a:t>• Gross Profit</a:t>
            </a:r>
          </a:p>
          <a:p>
            <a:r>
              <a:t>•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Lead-Time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Observed Lead Time = Ship Date − Order Date</a:t>
            </a:r>
          </a:p>
          <a:p/>
          <a:p>
            <a:r>
              <a:t>The dataset contains unusually long observed order-to-ship intervals.</a:t>
            </a:r>
          </a:p>
          <a:p/>
          <a:p>
            <a:r>
              <a:t>Therefore, the analysis preserves these values as observed lead times rather than treating them as conventional transportation transit times.</a:t>
            </a:r>
          </a:p>
          <a:p/>
          <a:p>
            <a:r>
              <a:t>Median observed lead time:</a:t>
            </a:r>
          </a:p>
          <a:p>
            <a:r>
              <a:t>• Approximately 1,274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regression models were evaluated:</a:t>
            </a:r>
          </a:p>
          <a:p/>
          <a:p>
            <a:r>
              <a:t>Linear Regression</a:t>
            </a:r>
          </a:p>
          <a:p>
            <a:r>
              <a:t>MAE: 212.67</a:t>
            </a:r>
          </a:p>
          <a:p>
            <a:r>
              <a:t>RMSE: 264.27</a:t>
            </a:r>
          </a:p>
          <a:p>
            <a:r>
              <a:t>R²: 0.012</a:t>
            </a:r>
          </a:p>
          <a:p/>
          <a:p>
            <a:r>
              <a:t>Random Forest</a:t>
            </a:r>
          </a:p>
          <a:p>
            <a:r>
              <a:t>MAE: 218.28</a:t>
            </a:r>
          </a:p>
          <a:p>
            <a:r>
              <a:t>RMSE: 269.50</a:t>
            </a:r>
          </a:p>
          <a:p>
            <a:r>
              <a:t>R²: -0.027</a:t>
            </a:r>
          </a:p>
          <a:p/>
          <a:p>
            <a:r>
              <a:t>Gradient Boosting</a:t>
            </a:r>
          </a:p>
          <a:p>
            <a:r>
              <a:t>MAE: 214.61</a:t>
            </a:r>
          </a:p>
          <a:p>
            <a:r>
              <a:t>RMSE: 260.27</a:t>
            </a:r>
          </a:p>
          <a:p>
            <a:r>
              <a:t>R²: 0.042</a:t>
            </a:r>
          </a:p>
          <a:p/>
          <a:p>
            <a:r>
              <a:t>Gradient Boosting was selected for scenario simulation.</a:t>
            </a:r>
          </a:p>
          <a:p/>
          <a:p>
            <a:r>
              <a:t>Important limitation:</a:t>
            </a:r>
          </a:p>
          <a:p>
            <a:r>
              <a:t>R² ≈ 0.042 means the model explains only a small portion of lead-time variation.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Scenario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observed product/order line was evaluated against alternative factories.</a:t>
            </a:r>
          </a:p>
          <a:p/>
          <a:p>
            <a:r>
              <a:t>Scenario records generated:</a:t>
            </a:r>
          </a:p>
          <a:p>
            <a:r>
              <a:t>40,776</a:t>
            </a:r>
          </a:p>
          <a:p/>
          <a:p>
            <a:r>
              <a:t>For each scenario we compared:</a:t>
            </a:r>
          </a:p>
          <a:p>
            <a:r>
              <a:t>• Current factory</a:t>
            </a:r>
          </a:p>
          <a:p>
            <a:r>
              <a:t>• Alternative factory</a:t>
            </a:r>
          </a:p>
          <a:p>
            <a:r>
              <a:t>• Predicted current lead time</a:t>
            </a:r>
          </a:p>
          <a:p>
            <a:r>
              <a:t>• Predicted alternative lead time</a:t>
            </a:r>
          </a:p>
          <a:p>
            <a:r>
              <a:t>• Potential lead-time improvement</a:t>
            </a:r>
          </a:p>
          <a:p>
            <a:r>
              <a:t>• Sales and profit</a:t>
            </a:r>
          </a:p>
          <a:p>
            <a:r>
              <a:t>• Factory distance</a:t>
            </a:r>
          </a:p>
          <a:p/>
          <a:p>
            <a:r>
              <a:t>Scenario unit:</a:t>
            </a:r>
          </a:p>
          <a:p>
            <a:r>
              <a:t>Dataset line item rather than unique Order 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recommendation framework considers:</a:t>
            </a:r>
          </a:p>
          <a:p/>
          <a:p>
            <a:r>
              <a:t>50% — Lead-Time Improvement</a:t>
            </a:r>
          </a:p>
          <a:p>
            <a:r>
              <a:t>30% — Profitability</a:t>
            </a:r>
          </a:p>
          <a:p>
            <a:r>
              <a:t>20% — Factory Distance</a:t>
            </a:r>
          </a:p>
          <a:p/>
          <a:p>
            <a:r>
              <a:t>Optimization Score =</a:t>
            </a:r>
          </a:p>
          <a:p>
            <a:r>
              <a:t>50% Lead-Time Score</a:t>
            </a:r>
          </a:p>
          <a:p>
            <a:r>
              <a:t>+ 30% Profit Score</a:t>
            </a:r>
          </a:p>
          <a:p>
            <a:r>
              <a:t>− 20% Distance Score</a:t>
            </a:r>
          </a:p>
          <a:p/>
          <a:p>
            <a:r>
              <a:t>Evidence safeguard:</a:t>
            </a:r>
          </a:p>
          <a:p>
            <a:r>
              <a:t>• 100+ orders → HIGHER EVIDENCE</a:t>
            </a:r>
          </a:p>
          <a:p>
            <a:r>
              <a:t>• 30–99 orders → MEDIUM EVIDENCE</a:t>
            </a:r>
          </a:p>
          <a:p>
            <a:r>
              <a:t>• &lt;30 orders → LOW EVIDENCE</a:t>
            </a:r>
          </a:p>
          <a:p/>
          <a:p>
            <a:r>
              <a:t>Low-evidence positive opportunities are classified as VALIDATE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classification across 15 products:</a:t>
            </a:r>
          </a:p>
          <a:p/>
          <a:p>
            <a:r>
              <a:t>MOVE CANDIDATE: 8</a:t>
            </a:r>
          </a:p>
          <a:p>
            <a:r>
              <a:t>VALIDATE FIRST: 5</a:t>
            </a:r>
          </a:p>
          <a:p>
            <a:r>
              <a:t>NO CHANGE: 2</a:t>
            </a:r>
          </a:p>
          <a:p/>
          <a:p>
            <a:r>
              <a:t>MOVE CANDIDATE products:</a:t>
            </a:r>
          </a:p>
          <a:p/>
          <a:p>
            <a:r>
              <a:t>• Kazookles</a:t>
            </a:r>
          </a:p>
          <a:p>
            <a:r>
              <a:t>• Wonka Gum</a:t>
            </a:r>
          </a:p>
          <a:p>
            <a:r>
              <a:t>• Wonka Bar - Fudge Mallows</a:t>
            </a:r>
          </a:p>
          <a:p>
            <a:r>
              <a:t>• Wonka Bar -Scrumdiddlyumptious</a:t>
            </a:r>
          </a:p>
          <a:p>
            <a:r>
              <a:t>• Wonka Bar - Nutty Crunch Surprise</a:t>
            </a:r>
          </a:p>
          <a:p>
            <a:r>
              <a:t>• Wonka Bar - Milk Chocolate</a:t>
            </a:r>
          </a:p>
          <a:p>
            <a:r>
              <a:t>• Lickable Wallpaper</a:t>
            </a:r>
          </a:p>
          <a:p>
            <a:r>
              <a:t>• Wonka Bar - Triple Dazzle Caramel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Movement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factory movement patterns were identified:</a:t>
            </a:r>
          </a:p>
          <a:p/>
          <a:p>
            <a:r>
              <a:t>1. Lot's O' Nuts → Wicked Choccy's</a:t>
            </a:r>
          </a:p>
          <a:p>
            <a:r>
              <a:t>2. Wicked Choccy's → The Other Factory</a:t>
            </a:r>
          </a:p>
          <a:p>
            <a:r>
              <a:t>3. Secret Factory → Wicked Choccy's</a:t>
            </a:r>
          </a:p>
          <a:p>
            <a:r>
              <a:t>4. The Other Factory → Wicked Choccy's</a:t>
            </a:r>
          </a:p>
          <a:p/>
          <a:p>
            <a:r>
              <a:t>Largest modeled opportunity:</a:t>
            </a:r>
          </a:p>
          <a:p>
            <a:r>
              <a:t>Lot's O' Nuts → Wicked Choccy's</a:t>
            </a:r>
          </a:p>
          <a:p/>
          <a:p>
            <a:r>
              <a:t>Potential modeled order-days reduced:</a:t>
            </a:r>
          </a:p>
          <a:p>
            <a:r>
              <a:t>60,824.73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CANDIDATE products:</a:t>
            </a:r>
          </a:p>
          <a:p/>
          <a:p>
            <a:r>
              <a:t>Products: 8</a:t>
            </a:r>
          </a:p>
          <a:p>
            <a:r>
              <a:t>Orders covered: 10,154</a:t>
            </a:r>
          </a:p>
          <a:p/>
          <a:p>
            <a:r>
              <a:t>Potential modeled order-days reduced:</a:t>
            </a:r>
          </a:p>
          <a:p>
            <a:r>
              <a:t>82,263.98</a:t>
            </a:r>
          </a:p>
          <a:p/>
          <a:p>
            <a:r>
              <a:t>Modeled average reduction:</a:t>
            </a:r>
          </a:p>
          <a:p>
            <a:r>
              <a:t>8.10 days per order</a:t>
            </a:r>
          </a:p>
          <a:p/>
          <a:p>
            <a:r>
              <a:t>Associated sales:</a:t>
            </a:r>
          </a:p>
          <a:p>
            <a:r>
              <a:t>141,356.15</a:t>
            </a:r>
          </a:p>
          <a:p/>
          <a:p>
            <a:r>
              <a:t>Associated gross profit:</a:t>
            </a:r>
          </a:p>
          <a:p>
            <a:r>
              <a:t>93,158.07</a:t>
            </a:r>
          </a:p>
          <a:p/>
          <a:p>
            <a:r>
              <a:t>These are modeled potential impacts, not guaranteed operational savings.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limitations:</a:t>
            </a:r>
          </a:p>
          <a:p/>
          <a:p>
            <a:r>
              <a:t>• Low model explanatory power (R² ≈ 0.042)</a:t>
            </a:r>
          </a:p>
          <a:p>
            <a:r>
              <a:t>• Unusually long observed lead times</a:t>
            </a:r>
          </a:p>
          <a:p>
            <a:r>
              <a:t>• Counterfactual scenarios are model-based</a:t>
            </a:r>
          </a:p>
          <a:p>
            <a:r>
              <a:t>• Factory capacity is not fully modeled</a:t>
            </a:r>
          </a:p>
          <a:p>
            <a:r>
              <a:t>• Transportation costs are not fully modeled</a:t>
            </a:r>
          </a:p>
          <a:p>
            <a:r>
              <a:t>• Inventory constraints are not fully modeled</a:t>
            </a:r>
          </a:p>
          <a:p/>
          <a:p>
            <a:r>
              <a:t>Future improvements:</a:t>
            </a:r>
          </a:p>
          <a:p/>
          <a:p>
            <a:r>
              <a:t>• Add factory capacity</a:t>
            </a:r>
          </a:p>
          <a:p>
            <a:r>
              <a:t>• Add transportation costs</a:t>
            </a:r>
          </a:p>
          <a:p>
            <a:r>
              <a:t>• Add inventory constraints</a:t>
            </a:r>
          </a:p>
          <a:p>
            <a:r>
              <a:t>• Incorporate production constraints</a:t>
            </a:r>
          </a:p>
          <a:p>
            <a:r>
              <a:t>• Build formal optimization</a:t>
            </a:r>
          </a:p>
          <a:p>
            <a:r>
              <a:t>• Pilot-test selected recommendations</a:t>
            </a:r>
          </a:p>
          <a:p>
            <a:r>
              <a:t>• Compare actual vs predicted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Executive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identifies potential factory reallocation opportunities that can be investigated further.</a:t>
            </a:r>
          </a:p>
          <a:p/>
          <a:p>
            <a:r>
              <a:t>Key findings:</a:t>
            </a:r>
          </a:p>
          <a:p/>
          <a:p>
            <a:r>
              <a:t>• 8 products → MOVE CANDIDATE</a:t>
            </a:r>
          </a:p>
          <a:p>
            <a:r>
              <a:t>• 5 products → VALIDATE FIRST</a:t>
            </a:r>
          </a:p>
          <a:p>
            <a:r>
              <a:t>• 2 products → NO CHANGE</a:t>
            </a:r>
          </a:p>
          <a:p>
            <a:r>
              <a:t>• 10,154 orders covered by MOVE CANDIDATES</a:t>
            </a:r>
          </a:p>
          <a:p>
            <a:r>
              <a:t>• 82,263.98 potential modeled order-days reduced</a:t>
            </a:r>
          </a:p>
          <a:p>
            <a:r>
              <a:t>• 8.10 modeled days reduction per order</a:t>
            </a:r>
          </a:p>
          <a:p/>
          <a:p>
            <a:r>
              <a:t>Largest modeled movement:</a:t>
            </a:r>
          </a:p>
          <a:p>
            <a:r>
              <a:t>Lot's O' Nuts → Wicked Choccy's</a:t>
            </a:r>
          </a:p>
          <a:p/>
          <a:p>
            <a:r>
              <a:t>Recommended approach:</a:t>
            </a:r>
          </a:p>
          <a:p>
            <a:r>
              <a:t>Use these results as decision-support signals and validate operational feasibility before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